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SemiBold"/>
      <p:regular r:id="rId201315"/>
    </p:embeddedFont>
    <p:embeddedFont>
      <p:font typeface="Roboto Bold"/>
      <p:regular r:id="rId201316"/>
    </p:embeddedFont>
    <p:embeddedFont>
      <p:font typeface="Saira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custGeom>
            <a:avLst/>
            <a:gdLst/>
            <a:ahLst/>
            <a:cxnLst/>
            <a:rect l="l" t="t" r="r" b="b"/>
            <a:pathLst>
              <a:path w="3047924" h="6858000">
                <a:moveTo>
                  <a:pt x="213393" y="0"/>
                </a:moveTo>
                <a:lnTo>
                  <a:pt x="3047924" y="0"/>
                </a:lnTo>
                <a:lnTo>
                  <a:pt x="3047924" y="6858000"/>
                </a:lnTo>
                <a:lnTo>
                  <a:pt x="213393" y="6858000"/>
                </a:lnTo>
                <a:arcTo hR="213398" wR="213393" stAng="5400000" swAng="5400000"/>
                <a:lnTo>
                  <a:pt x="0" y="213398"/>
                </a:lnTo>
                <a:arcTo hR="213398" wR="213393" stAng="10800000" swAng="5400000"/>
                <a:close/>
              </a:path>
            </a:pathLst>
          </a:custGeom>
          <a:solidFill>
            <a:srgbClr val="030303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1927126"/>
            <a:ext cx="2743131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DIPLOMA IN AI &amp; ML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2166838"/>
            <a:ext cx="2133547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GTTC Belagavi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2620963"/>
            <a:ext cx="2133547" cy="19050"/>
          </a:xfrm>
          <a:prstGeom prst="roundRect">
            <a:avLst>
              <a:gd name="adj" fmla="val 49999"/>
            </a:avLst>
          </a:prstGeom>
          <a:solidFill>
            <a:srgbClr val="4E4E4E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2849563"/>
            <a:ext cx="2743131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189" y="3187998"/>
            <a:ext cx="27431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Atharv Shetty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189" y="3598366"/>
            <a:ext cx="2743131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 NO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189" y="3936802"/>
            <a:ext cx="27431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8080110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189" y="4347170"/>
            <a:ext cx="2743131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189" y="4685605"/>
            <a:ext cx="274313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K.S. Shirur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05112" y="2333030"/>
            <a:ext cx="8686583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 / ML-BASED ROAD CONDITION DETECTION SYSTEM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05112" y="2572742"/>
            <a:ext cx="8229394" cy="1028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8800" spc="220" kern="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ROADGUARD</a:t>
            </a:r>
            <a:endParaRPr lang="en-US" sz="8800" dirty="0"/>
          </a:p>
        </p:txBody>
      </p:sp>
      <p:sp>
        <p:nvSpPr>
          <p:cNvPr id="14" name="Text 12"/>
          <p:cNvSpPr/>
          <p:nvPr/>
        </p:nvSpPr>
        <p:spPr>
          <a:xfrm>
            <a:off x="3505112" y="3765947"/>
            <a:ext cx="8229394" cy="401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100" spc="31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Fast road condition screening from images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3505112" y="4351635"/>
            <a:ext cx="868658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REVIEW · DEPARTMENT OF DIPLOMA IN AI &amp; ML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38399" y="0"/>
            <a:ext cx="19050" cy="6858000"/>
          </a:xfrm>
          <a:prstGeom prst="rect">
            <a:avLst/>
          </a:prstGeom>
          <a:solidFill>
            <a:srgbClr val="4E4E4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078460"/>
            <a:ext cx="1173450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SYSTEM READOUT ·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3318173"/>
            <a:ext cx="11277318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38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RoadGuard turns road images into a fast condition check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4531221"/>
            <a:ext cx="3555911" cy="1793379"/>
          </a:xfrm>
          <a:prstGeom prst="roundRect">
            <a:avLst>
              <a:gd name="adj" fmla="val 8923"/>
            </a:avLst>
          </a:prstGeom>
          <a:solidFill>
            <a:srgbClr val="030303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4759821"/>
            <a:ext cx="370830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783" y="5098256"/>
            <a:ext cx="3098722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00" spc="1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 image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85783" y="5605463"/>
            <a:ext cx="3098722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AI/ML-based system for detecting road condition from images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7892" y="4531221"/>
            <a:ext cx="3555911" cy="1793379"/>
          </a:xfrm>
          <a:prstGeom prst="roundRect">
            <a:avLst>
              <a:gd name="adj" fmla="val 8923"/>
            </a:avLst>
          </a:prstGeom>
          <a:solidFill>
            <a:srgbClr val="030303"/>
          </a:solidFill>
          <a:ln/>
        </p:spPr>
      </p:sp>
      <p:sp>
        <p:nvSpPr>
          <p:cNvPr id="9" name="Text 7"/>
          <p:cNvSpPr/>
          <p:nvPr/>
        </p:nvSpPr>
        <p:spPr>
          <a:xfrm>
            <a:off x="4546486" y="4759821"/>
            <a:ext cx="370830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46486" y="5098256"/>
            <a:ext cx="3098722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00" spc="11" kern="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states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46486" y="5605463"/>
            <a:ext cx="37083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Road or Damaged Road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78595" y="4531221"/>
            <a:ext cx="3555911" cy="1793379"/>
          </a:xfrm>
          <a:prstGeom prst="roundRect">
            <a:avLst>
              <a:gd name="adj" fmla="val 8923"/>
            </a:avLst>
          </a:prstGeom>
          <a:solidFill>
            <a:srgbClr val="030303"/>
          </a:solidFill>
          <a:ln/>
        </p:spPr>
      </p:sp>
      <p:sp>
        <p:nvSpPr>
          <p:cNvPr id="13" name="Text 11"/>
          <p:cNvSpPr/>
          <p:nvPr/>
        </p:nvSpPr>
        <p:spPr>
          <a:xfrm>
            <a:off x="8407190" y="4759821"/>
            <a:ext cx="370830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VALUE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07190" y="5098256"/>
            <a:ext cx="3098722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00" spc="1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screening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407190" y="5605463"/>
            <a:ext cx="3098722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dependence on slow manual inspection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63666" y="6543576"/>
            <a:ext cx="528029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942604"/>
            <a:ext cx="1173450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NEED ·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2182316"/>
            <a:ext cx="11277318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38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Manual inspection can miss damage when speed matters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3395365"/>
            <a:ext cx="5486263" cy="1793379"/>
          </a:xfrm>
          <a:prstGeom prst="roundRect">
            <a:avLst>
              <a:gd name="adj" fmla="val 8923"/>
            </a:avLst>
          </a:prstGeom>
          <a:solidFill>
            <a:srgbClr val="030303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3623965"/>
            <a:ext cx="5638659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INSPECTION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783" y="3962400"/>
            <a:ext cx="5029074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00" spc="1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Time-intensive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85783" y="4469606"/>
            <a:ext cx="5029074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 inspection takes significant time when performed manually.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3395365"/>
            <a:ext cx="5486263" cy="1793379"/>
          </a:xfrm>
          <a:prstGeom prst="roundRect">
            <a:avLst>
              <a:gd name="adj" fmla="val 8923"/>
            </a:avLst>
          </a:prstGeom>
          <a:solidFill>
            <a:srgbClr val="030303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3623965"/>
            <a:ext cx="5638659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DETECTION GAP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76838" y="3962400"/>
            <a:ext cx="5029074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00" spc="1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Damage can wait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476838" y="4469606"/>
            <a:ext cx="563865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Damage may not be identified quickly enough.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5645944"/>
            <a:ext cx="12191695" cy="1212056"/>
          </a:xfrm>
          <a:custGeom>
            <a:avLst/>
            <a:gdLst/>
            <a:ahLst/>
            <a:cxnLst/>
            <a:rect l="l" t="t" r="r" b="b"/>
            <a:pathLst>
              <a:path w="12191695" h="1212056">
                <a:moveTo>
                  <a:pt x="0" y="0"/>
                </a:moveTo>
                <a:lnTo>
                  <a:pt x="12191695" y="0"/>
                </a:lnTo>
                <a:lnTo>
                  <a:pt x="12191695" y="998658"/>
                </a:lnTo>
                <a:arcTo hR="213398" wR="213393" stAng="0" swAng="5400000"/>
                <a:lnTo>
                  <a:pt x="213393" y="1212056"/>
                </a:lnTo>
                <a:arcTo hR="213398" wR="213393" stAng="5400000" swAng="5400000"/>
                <a:lnTo>
                  <a:pt x="0" y="0"/>
                </a:lnTo>
                <a:close/>
              </a:path>
            </a:pathLst>
          </a:custGeom>
          <a:solidFill>
            <a:srgbClr val="030303"/>
          </a:solidFill>
          <a:ln/>
        </p:spPr>
      </p:sp>
      <p:sp>
        <p:nvSpPr>
          <p:cNvPr id="13" name="Text 11"/>
          <p:cNvSpPr/>
          <p:nvPr/>
        </p:nvSpPr>
        <p:spPr>
          <a:xfrm>
            <a:off x="380990" y="5849144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PUBLIC SAFETY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0990" y="6180931"/>
            <a:ext cx="11810705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Unsafe road conditions can affect public safety. An automated detection system is needed for faster screening.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663666" y="6543576"/>
            <a:ext cx="528029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81000"/>
            <a:ext cx="1173450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BUILD OBJECTIVES ·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20713"/>
            <a:ext cx="11277318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38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Five objectives define the RoadGuard build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2742803"/>
            <a:ext cx="2011610" cy="1977330"/>
          </a:xfrm>
          <a:prstGeom prst="roundRect">
            <a:avLst>
              <a:gd name="adj" fmla="val 8093"/>
            </a:avLst>
          </a:prstGeom>
          <a:solidFill>
            <a:srgbClr val="030303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2971403"/>
            <a:ext cx="814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783" y="3220343"/>
            <a:ext cx="1554421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7" name="Text 5"/>
          <p:cNvSpPr/>
          <p:nvPr/>
        </p:nvSpPr>
        <p:spPr>
          <a:xfrm>
            <a:off x="685783" y="3346053"/>
            <a:ext cx="155442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783" y="3755727"/>
            <a:ext cx="1554421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normal and damaged roads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73492" y="2742803"/>
            <a:ext cx="2011709" cy="1977330"/>
          </a:xfrm>
          <a:prstGeom prst="roundRect">
            <a:avLst>
              <a:gd name="adj" fmla="val 8093"/>
            </a:avLst>
          </a:prstGeom>
          <a:solidFill>
            <a:srgbClr val="030303"/>
          </a:solidFill>
          <a:ln/>
        </p:spPr>
      </p:sp>
      <p:sp>
        <p:nvSpPr>
          <p:cNvPr id="10" name="Text 8"/>
          <p:cNvSpPr/>
          <p:nvPr/>
        </p:nvSpPr>
        <p:spPr>
          <a:xfrm>
            <a:off x="3002086" y="2971403"/>
            <a:ext cx="814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02086" y="3220343"/>
            <a:ext cx="1554421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2" name="Text 10"/>
          <p:cNvSpPr/>
          <p:nvPr/>
        </p:nvSpPr>
        <p:spPr>
          <a:xfrm>
            <a:off x="3002086" y="3346053"/>
            <a:ext cx="1554520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Preprocess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02086" y="3755727"/>
            <a:ext cx="1554520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image preprocessing techniques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89894" y="2742803"/>
            <a:ext cx="2011808" cy="1977330"/>
          </a:xfrm>
          <a:prstGeom prst="roundRect">
            <a:avLst>
              <a:gd name="adj" fmla="val 8093"/>
            </a:avLst>
          </a:prstGeom>
          <a:solidFill>
            <a:srgbClr val="030303"/>
          </a:solidFill>
          <a:ln/>
        </p:spPr>
      </p:sp>
      <p:sp>
        <p:nvSpPr>
          <p:cNvPr id="15" name="Text 13"/>
          <p:cNvSpPr/>
          <p:nvPr/>
        </p:nvSpPr>
        <p:spPr>
          <a:xfrm>
            <a:off x="5318488" y="2971403"/>
            <a:ext cx="814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18488" y="3220343"/>
            <a:ext cx="1554620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7" name="Text 15"/>
          <p:cNvSpPr/>
          <p:nvPr/>
        </p:nvSpPr>
        <p:spPr>
          <a:xfrm>
            <a:off x="5318488" y="3346053"/>
            <a:ext cx="1554620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18488" y="3755727"/>
            <a:ext cx="1554620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 neural network using NumPy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06395" y="2742803"/>
            <a:ext cx="2011709" cy="1977330"/>
          </a:xfrm>
          <a:prstGeom prst="roundRect">
            <a:avLst>
              <a:gd name="adj" fmla="val 8093"/>
            </a:avLst>
          </a:prstGeom>
          <a:solidFill>
            <a:srgbClr val="030303"/>
          </a:solidFill>
          <a:ln/>
        </p:spPr>
      </p:sp>
      <p:sp>
        <p:nvSpPr>
          <p:cNvPr id="20" name="Text 18"/>
          <p:cNvSpPr/>
          <p:nvPr/>
        </p:nvSpPr>
        <p:spPr>
          <a:xfrm>
            <a:off x="7634989" y="2971403"/>
            <a:ext cx="814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34989" y="3220343"/>
            <a:ext cx="1554421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2" name="Text 20"/>
          <p:cNvSpPr/>
          <p:nvPr/>
        </p:nvSpPr>
        <p:spPr>
          <a:xfrm>
            <a:off x="7634989" y="3346053"/>
            <a:ext cx="1554520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34989" y="3755727"/>
            <a:ext cx="1554520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web-based prediction system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22797" y="2742803"/>
            <a:ext cx="2011709" cy="1977330"/>
          </a:xfrm>
          <a:prstGeom prst="roundRect">
            <a:avLst>
              <a:gd name="adj" fmla="val 8093"/>
            </a:avLst>
          </a:prstGeom>
          <a:solidFill>
            <a:srgbClr val="030303"/>
          </a:solidFill>
          <a:ln/>
        </p:spPr>
      </p:sp>
      <p:sp>
        <p:nvSpPr>
          <p:cNvPr id="25" name="Text 23"/>
          <p:cNvSpPr/>
          <p:nvPr/>
        </p:nvSpPr>
        <p:spPr>
          <a:xfrm>
            <a:off x="9951392" y="2971403"/>
            <a:ext cx="814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951392" y="3220343"/>
            <a:ext cx="1554421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7" name="Text 25"/>
          <p:cNvSpPr/>
          <p:nvPr/>
        </p:nvSpPr>
        <p:spPr>
          <a:xfrm>
            <a:off x="9951392" y="3346053"/>
            <a:ext cx="1554520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951392" y="3755727"/>
            <a:ext cx="1554520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 results through a user-friendly interface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663666" y="6543576"/>
            <a:ext cx="528029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422029"/>
            <a:ext cx="1173450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SYSTEM STACK ·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2661741"/>
            <a:ext cx="11277318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38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system combines a lightweight model with a web interface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3874790"/>
            <a:ext cx="5486263" cy="1694656"/>
          </a:xfrm>
          <a:prstGeom prst="roundRect">
            <a:avLst>
              <a:gd name="adj" fmla="val 9442"/>
            </a:avLst>
          </a:prstGeom>
          <a:solidFill>
            <a:srgbClr val="030303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4103390"/>
            <a:ext cx="563865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BUILD LAYER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783" y="4343102"/>
            <a:ext cx="5029074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00" spc="1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85783" y="4850309"/>
            <a:ext cx="5029074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spc="7" kern="0" dirty="0">
                <a:solidFill>
                  <a:srgbClr val="E7E7E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Numerical and vision stack: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 and OpenCV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3874790"/>
            <a:ext cx="5486263" cy="1694656"/>
          </a:xfrm>
          <a:prstGeom prst="roundRect">
            <a:avLst>
              <a:gd name="adj" fmla="val 9442"/>
            </a:avLst>
          </a:prstGeom>
          <a:solidFill>
            <a:srgbClr val="030303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4103390"/>
            <a:ext cx="563865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WEB LAYER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76838" y="4343102"/>
            <a:ext cx="5029074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00" spc="1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 + React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476838" y="4850309"/>
            <a:ext cx="5029074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spc="7" kern="0" dirty="0">
                <a:solidFill>
                  <a:srgbClr val="E7E7E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Web stack: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 with React + Vite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189" y="5798046"/>
            <a:ext cx="6019649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AND COLLABORATION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189" y="6079331"/>
            <a:ext cx="601964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Kaggle Dataset and GitHub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24442" y="5798046"/>
            <a:ext cx="586725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POSTURE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24442" y="6079331"/>
            <a:ext cx="5867253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 model · usable web interface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6323" y="5798046"/>
            <a:ext cx="19050" cy="526554"/>
          </a:xfrm>
          <a:prstGeom prst="rect">
            <a:avLst/>
          </a:prstGeom>
          <a:solidFill>
            <a:srgbClr val="4E4E4E"/>
          </a:solidFill>
          <a:ln/>
        </p:spPr>
      </p:sp>
      <p:sp>
        <p:nvSpPr>
          <p:cNvPr id="17" name="Text 15"/>
          <p:cNvSpPr/>
          <p:nvPr/>
        </p:nvSpPr>
        <p:spPr>
          <a:xfrm>
            <a:off x="11663666" y="6543576"/>
            <a:ext cx="528029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343077"/>
            <a:ext cx="1173450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END-TO-END ARCHITECTURE ·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3582789"/>
            <a:ext cx="11277318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38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One image moves through five connected stages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4259163"/>
            <a:ext cx="1173450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→ React Frontend → Flask Backend → Image Preprocessing → Neural Network → Prediction Result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4733032"/>
            <a:ext cx="1879553" cy="1616968"/>
          </a:xfrm>
          <a:prstGeom prst="roundRect">
            <a:avLst>
              <a:gd name="adj" fmla="val 9896"/>
            </a:avLst>
          </a:prstGeom>
          <a:solidFill>
            <a:srgbClr val="030303"/>
          </a:solidFill>
          <a:ln/>
        </p:spPr>
      </p:sp>
      <p:sp>
        <p:nvSpPr>
          <p:cNvPr id="6" name="Shape 4"/>
          <p:cNvSpPr/>
          <p:nvPr/>
        </p:nvSpPr>
        <p:spPr>
          <a:xfrm>
            <a:off x="479314" y="4755158"/>
            <a:ext cx="1835104" cy="666750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7" name="Shape 5"/>
          <p:cNvSpPr/>
          <p:nvPr/>
        </p:nvSpPr>
        <p:spPr>
          <a:xfrm>
            <a:off x="457189" y="4733032"/>
            <a:ext cx="1879553" cy="7112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8" name="Text 6"/>
          <p:cNvSpPr/>
          <p:nvPr/>
        </p:nvSpPr>
        <p:spPr>
          <a:xfrm>
            <a:off x="1320271" y="4955282"/>
            <a:ext cx="7628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spc="7" kern="0" dirty="0">
                <a:solidFill>
                  <a:srgbClr val="E7E7E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4984" y="5517257"/>
            <a:ext cx="152396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4984" y="5926931"/>
            <a:ext cx="213354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input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6742" y="4733032"/>
            <a:ext cx="1879553" cy="1616968"/>
          </a:xfrm>
          <a:prstGeom prst="roundRect">
            <a:avLst>
              <a:gd name="adj" fmla="val 9896"/>
            </a:avLst>
          </a:prstGeom>
          <a:solidFill>
            <a:srgbClr val="030303"/>
          </a:solidFill>
          <a:ln/>
        </p:spPr>
      </p:sp>
      <p:sp>
        <p:nvSpPr>
          <p:cNvPr id="12" name="Shape 10"/>
          <p:cNvSpPr/>
          <p:nvPr/>
        </p:nvSpPr>
        <p:spPr>
          <a:xfrm>
            <a:off x="2358867" y="4755158"/>
            <a:ext cx="1835104" cy="666750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13" name="Shape 11"/>
          <p:cNvSpPr/>
          <p:nvPr/>
        </p:nvSpPr>
        <p:spPr>
          <a:xfrm>
            <a:off x="2336742" y="4733032"/>
            <a:ext cx="1879553" cy="7112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14" name="Text 12"/>
          <p:cNvSpPr/>
          <p:nvPr/>
        </p:nvSpPr>
        <p:spPr>
          <a:xfrm>
            <a:off x="3199824" y="4955282"/>
            <a:ext cx="7628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spc="7" kern="0" dirty="0">
                <a:solidFill>
                  <a:srgbClr val="E7E7E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514537" y="5517257"/>
            <a:ext cx="152396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14537" y="5926931"/>
            <a:ext cx="213354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16295" y="4733032"/>
            <a:ext cx="1879553" cy="1616968"/>
          </a:xfrm>
          <a:prstGeom prst="roundRect">
            <a:avLst>
              <a:gd name="adj" fmla="val 9896"/>
            </a:avLst>
          </a:prstGeom>
          <a:solidFill>
            <a:srgbClr val="030303"/>
          </a:solidFill>
          <a:ln/>
        </p:spPr>
      </p:sp>
      <p:sp>
        <p:nvSpPr>
          <p:cNvPr id="18" name="Shape 16"/>
          <p:cNvSpPr/>
          <p:nvPr/>
        </p:nvSpPr>
        <p:spPr>
          <a:xfrm>
            <a:off x="4238420" y="4755158"/>
            <a:ext cx="1835104" cy="666750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19" name="Shape 17"/>
          <p:cNvSpPr/>
          <p:nvPr/>
        </p:nvSpPr>
        <p:spPr>
          <a:xfrm>
            <a:off x="4216295" y="4733032"/>
            <a:ext cx="1879553" cy="7112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20" name="Text 18"/>
          <p:cNvSpPr/>
          <p:nvPr/>
        </p:nvSpPr>
        <p:spPr>
          <a:xfrm>
            <a:off x="5079377" y="4955282"/>
            <a:ext cx="7628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spc="7" kern="0" dirty="0">
                <a:solidFill>
                  <a:srgbClr val="E7E7E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394090" y="5517257"/>
            <a:ext cx="152396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394090" y="5926931"/>
            <a:ext cx="213354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5848" y="4733032"/>
            <a:ext cx="1879553" cy="1616968"/>
          </a:xfrm>
          <a:prstGeom prst="roundRect">
            <a:avLst>
              <a:gd name="adj" fmla="val 9896"/>
            </a:avLst>
          </a:prstGeom>
          <a:solidFill>
            <a:srgbClr val="030303"/>
          </a:solidFill>
          <a:ln/>
        </p:spPr>
      </p:sp>
      <p:sp>
        <p:nvSpPr>
          <p:cNvPr id="24" name="Shape 22"/>
          <p:cNvSpPr/>
          <p:nvPr/>
        </p:nvSpPr>
        <p:spPr>
          <a:xfrm>
            <a:off x="6117973" y="4755158"/>
            <a:ext cx="1835104" cy="666750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48" y="4733032"/>
            <a:ext cx="1879553" cy="7112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26" name="Text 24"/>
          <p:cNvSpPr/>
          <p:nvPr/>
        </p:nvSpPr>
        <p:spPr>
          <a:xfrm>
            <a:off x="6958930" y="4955282"/>
            <a:ext cx="7628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spc="7" kern="0" dirty="0">
                <a:solidFill>
                  <a:srgbClr val="E7E7E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273643" y="5517257"/>
            <a:ext cx="152396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Preprocess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273643" y="5926931"/>
            <a:ext cx="213354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processing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975400" y="4733032"/>
            <a:ext cx="1879553" cy="1616968"/>
          </a:xfrm>
          <a:prstGeom prst="roundRect">
            <a:avLst>
              <a:gd name="adj" fmla="val 9896"/>
            </a:avLst>
          </a:prstGeom>
          <a:solidFill>
            <a:srgbClr val="030303"/>
          </a:solidFill>
          <a:ln/>
        </p:spPr>
      </p:sp>
      <p:sp>
        <p:nvSpPr>
          <p:cNvPr id="30" name="Shape 28"/>
          <p:cNvSpPr/>
          <p:nvPr/>
        </p:nvSpPr>
        <p:spPr>
          <a:xfrm>
            <a:off x="7997526" y="4755158"/>
            <a:ext cx="1835104" cy="666750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31" name="Shape 29"/>
          <p:cNvSpPr/>
          <p:nvPr/>
        </p:nvSpPr>
        <p:spPr>
          <a:xfrm>
            <a:off x="7975400" y="4733032"/>
            <a:ext cx="1879553" cy="7112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32" name="Text 30"/>
          <p:cNvSpPr/>
          <p:nvPr/>
        </p:nvSpPr>
        <p:spPr>
          <a:xfrm>
            <a:off x="8838483" y="4955282"/>
            <a:ext cx="7628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spc="7" kern="0" dirty="0">
                <a:solidFill>
                  <a:srgbClr val="E7E7E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5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153196" y="5517257"/>
            <a:ext cx="152396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153196" y="5926931"/>
            <a:ext cx="213354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prediction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854953" y="4733032"/>
            <a:ext cx="1879553" cy="161696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36" name="Shape 34"/>
          <p:cNvSpPr/>
          <p:nvPr/>
        </p:nvSpPr>
        <p:spPr>
          <a:xfrm>
            <a:off x="9877079" y="4755158"/>
            <a:ext cx="1835104" cy="666750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37" name="Shape 35"/>
          <p:cNvSpPr/>
          <p:nvPr/>
        </p:nvSpPr>
        <p:spPr>
          <a:xfrm>
            <a:off x="9854953" y="4733032"/>
            <a:ext cx="1879553" cy="7112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38" name="Text 36"/>
          <p:cNvSpPr/>
          <p:nvPr/>
        </p:nvSpPr>
        <p:spPr>
          <a:xfrm>
            <a:off x="10718036" y="4955282"/>
            <a:ext cx="7628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spc="7" kern="0" dirty="0">
                <a:solidFill>
                  <a:srgbClr val="E7E7E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6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0032749" y="5517257"/>
            <a:ext cx="152396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0032749" y="5926931"/>
            <a:ext cx="213354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 display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663666" y="6543576"/>
            <a:ext cx="528029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193800"/>
            <a:ext cx="1173450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DATASET REGISTER ·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433513"/>
            <a:ext cx="11277318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38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dataset is split to test generalization, not just training fit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909888"/>
            <a:ext cx="5968851" cy="31766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45377" y="2646561"/>
            <a:ext cx="4389129" cy="3703439"/>
          </a:xfrm>
          <a:prstGeom prst="roundRect">
            <a:avLst>
              <a:gd name="adj" fmla="val 4321"/>
            </a:avLst>
          </a:prstGeom>
          <a:solidFill>
            <a:srgbClr val="030303"/>
          </a:solidFill>
          <a:ln/>
        </p:spPr>
      </p:sp>
      <p:sp>
        <p:nvSpPr>
          <p:cNvPr id="6" name="Text 3"/>
          <p:cNvSpPr/>
          <p:nvPr/>
        </p:nvSpPr>
        <p:spPr>
          <a:xfrm>
            <a:off x="7573971" y="2875161"/>
            <a:ext cx="4541525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 ISSUES DETECTION DATASET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573971" y="3213596"/>
            <a:ext cx="3931941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00" spc="1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9,425 images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573971" y="3720802"/>
            <a:ext cx="3931941" cy="84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Damaged road images collected from road issue categories.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road images collected separately.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73971" y="4716959"/>
            <a:ext cx="3931841" cy="19050"/>
          </a:xfrm>
          <a:prstGeom prst="roundRect">
            <a:avLst>
              <a:gd name="adj" fmla="val 49999"/>
            </a:avLst>
          </a:prstGeom>
          <a:solidFill>
            <a:srgbClr val="4E4E4E"/>
          </a:solidFill>
          <a:ln/>
        </p:spPr>
      </p:sp>
      <p:sp>
        <p:nvSpPr>
          <p:cNvPr id="10" name="Text 7"/>
          <p:cNvSpPr/>
          <p:nvPr/>
        </p:nvSpPr>
        <p:spPr>
          <a:xfrm>
            <a:off x="7573971" y="4888409"/>
            <a:ext cx="4541525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 BY PURPOSE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73971" y="5169694"/>
            <a:ext cx="3931941" cy="951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· 70% · 6,596 images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 · 15% · 1,411 images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· 15% · 1,418 images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63666" y="6543576"/>
            <a:ext cx="528029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587500"/>
            <a:ext cx="1173450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PREPROCESSING PIPELINE ·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827212"/>
            <a:ext cx="11277318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38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Preprocessing reduces every image to 3,072 normalized inputs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3040261"/>
            <a:ext cx="1625559" cy="2222599"/>
          </a:xfrm>
          <a:prstGeom prst="roundRect">
            <a:avLst>
              <a:gd name="adj" fmla="val 9844"/>
            </a:avLst>
          </a:prstGeom>
          <a:solidFill>
            <a:srgbClr val="030303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3268861"/>
            <a:ext cx="814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783" y="3517801"/>
            <a:ext cx="1168371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7" name="Text 5"/>
          <p:cNvSpPr/>
          <p:nvPr/>
        </p:nvSpPr>
        <p:spPr>
          <a:xfrm>
            <a:off x="685783" y="3643511"/>
            <a:ext cx="116837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783" y="4053185"/>
            <a:ext cx="1168371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the input image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87540" y="3040261"/>
            <a:ext cx="1625559" cy="2222599"/>
          </a:xfrm>
          <a:prstGeom prst="roundRect">
            <a:avLst>
              <a:gd name="adj" fmla="val 9844"/>
            </a:avLst>
          </a:prstGeom>
          <a:solidFill>
            <a:srgbClr val="030303"/>
          </a:solidFill>
          <a:ln/>
        </p:spPr>
      </p:sp>
      <p:sp>
        <p:nvSpPr>
          <p:cNvPr id="10" name="Text 8"/>
          <p:cNvSpPr/>
          <p:nvPr/>
        </p:nvSpPr>
        <p:spPr>
          <a:xfrm>
            <a:off x="2616135" y="3268861"/>
            <a:ext cx="814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16135" y="3517801"/>
            <a:ext cx="1168371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2" name="Text 10"/>
          <p:cNvSpPr/>
          <p:nvPr/>
        </p:nvSpPr>
        <p:spPr>
          <a:xfrm>
            <a:off x="2616135" y="3643511"/>
            <a:ext cx="116837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Resize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16135" y="4053185"/>
            <a:ext cx="1168371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Resize to 32 × 32 pixels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17892" y="3040261"/>
            <a:ext cx="1625559" cy="2222599"/>
          </a:xfrm>
          <a:prstGeom prst="roundRect">
            <a:avLst>
              <a:gd name="adj" fmla="val 9844"/>
            </a:avLst>
          </a:prstGeom>
          <a:solidFill>
            <a:srgbClr val="030303"/>
          </a:solidFill>
          <a:ln/>
        </p:spPr>
      </p:sp>
      <p:sp>
        <p:nvSpPr>
          <p:cNvPr id="15" name="Text 13"/>
          <p:cNvSpPr/>
          <p:nvPr/>
        </p:nvSpPr>
        <p:spPr>
          <a:xfrm>
            <a:off x="4546486" y="3268861"/>
            <a:ext cx="814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46486" y="3517801"/>
            <a:ext cx="1168371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7" name="Text 15"/>
          <p:cNvSpPr/>
          <p:nvPr/>
        </p:nvSpPr>
        <p:spPr>
          <a:xfrm>
            <a:off x="4546486" y="3643511"/>
            <a:ext cx="116837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RGB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486" y="4053185"/>
            <a:ext cx="1168371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to RGB format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48244" y="3040261"/>
            <a:ext cx="1625559" cy="2222599"/>
          </a:xfrm>
          <a:prstGeom prst="roundRect">
            <a:avLst>
              <a:gd name="adj" fmla="val 9844"/>
            </a:avLst>
          </a:prstGeom>
          <a:solidFill>
            <a:srgbClr val="030303"/>
          </a:solidFill>
          <a:ln/>
        </p:spPr>
      </p:sp>
      <p:sp>
        <p:nvSpPr>
          <p:cNvPr id="20" name="Text 18"/>
          <p:cNvSpPr/>
          <p:nvPr/>
        </p:nvSpPr>
        <p:spPr>
          <a:xfrm>
            <a:off x="6476838" y="3268861"/>
            <a:ext cx="814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76838" y="3517801"/>
            <a:ext cx="1168371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2" name="Text 20"/>
          <p:cNvSpPr/>
          <p:nvPr/>
        </p:nvSpPr>
        <p:spPr>
          <a:xfrm>
            <a:off x="6476838" y="3643511"/>
            <a:ext cx="116837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76838" y="4053185"/>
            <a:ext cx="1168371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 pixel values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78595" y="3040261"/>
            <a:ext cx="1625559" cy="2222599"/>
          </a:xfrm>
          <a:prstGeom prst="roundRect">
            <a:avLst>
              <a:gd name="adj" fmla="val 9844"/>
            </a:avLst>
          </a:prstGeom>
          <a:solidFill>
            <a:srgbClr val="030303"/>
          </a:solidFill>
          <a:ln/>
        </p:spPr>
      </p:sp>
      <p:sp>
        <p:nvSpPr>
          <p:cNvPr id="25" name="Text 23"/>
          <p:cNvSpPr/>
          <p:nvPr/>
        </p:nvSpPr>
        <p:spPr>
          <a:xfrm>
            <a:off x="8407190" y="3268861"/>
            <a:ext cx="814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407190" y="3517801"/>
            <a:ext cx="1168371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7" name="Text 25"/>
          <p:cNvSpPr/>
          <p:nvPr/>
        </p:nvSpPr>
        <p:spPr>
          <a:xfrm>
            <a:off x="8407190" y="3643511"/>
            <a:ext cx="116837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Flatten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07190" y="4053185"/>
            <a:ext cx="1168371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Flatten the image data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108947" y="3040261"/>
            <a:ext cx="1625559" cy="2222599"/>
          </a:xfrm>
          <a:prstGeom prst="roundRect">
            <a:avLst>
              <a:gd name="adj" fmla="val 9844"/>
            </a:avLst>
          </a:prstGeom>
          <a:solidFill>
            <a:srgbClr val="030303"/>
          </a:solidFill>
          <a:ln/>
        </p:spPr>
      </p:sp>
      <p:sp>
        <p:nvSpPr>
          <p:cNvPr id="30" name="Text 28"/>
          <p:cNvSpPr/>
          <p:nvPr/>
        </p:nvSpPr>
        <p:spPr>
          <a:xfrm>
            <a:off x="10337541" y="3268861"/>
            <a:ext cx="8145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337541" y="3517801"/>
            <a:ext cx="1168371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32" name="Text 30"/>
          <p:cNvSpPr/>
          <p:nvPr/>
        </p:nvSpPr>
        <p:spPr>
          <a:xfrm>
            <a:off x="10337541" y="3643511"/>
            <a:ext cx="116837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700" spc="8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337541" y="4053185"/>
            <a:ext cx="1168371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 the feature vector to the neural network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189" y="5491460"/>
            <a:ext cx="6019649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SHAPE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189" y="5829895"/>
            <a:ext cx="5410065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00" spc="1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 × 32 pixels</a:t>
            </a:r>
            <a:endParaRPr lang="en-US" sz="2300" dirty="0"/>
          </a:p>
        </p:txBody>
      </p:sp>
      <p:sp>
        <p:nvSpPr>
          <p:cNvPr id="36" name="Text 34"/>
          <p:cNvSpPr/>
          <p:nvPr/>
        </p:nvSpPr>
        <p:spPr>
          <a:xfrm>
            <a:off x="6324442" y="5491460"/>
            <a:ext cx="586725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24442" y="5829895"/>
            <a:ext cx="5410065" cy="520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00" spc="11" kern="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3,072</a:t>
            </a:r>
            <a:endParaRPr lang="en-US" sz="2300" dirty="0"/>
          </a:p>
        </p:txBody>
      </p:sp>
      <p:sp>
        <p:nvSpPr>
          <p:cNvPr id="38" name="Shape 36"/>
          <p:cNvSpPr/>
          <p:nvPr/>
        </p:nvSpPr>
        <p:spPr>
          <a:xfrm>
            <a:off x="6086323" y="5491460"/>
            <a:ext cx="19050" cy="858540"/>
          </a:xfrm>
          <a:prstGeom prst="rect">
            <a:avLst/>
          </a:prstGeom>
          <a:solidFill>
            <a:srgbClr val="4E4E4E"/>
          </a:solidFill>
          <a:ln/>
        </p:spPr>
      </p:sp>
      <p:sp>
        <p:nvSpPr>
          <p:cNvPr id="39" name="Text 37"/>
          <p:cNvSpPr/>
          <p:nvPr/>
        </p:nvSpPr>
        <p:spPr>
          <a:xfrm>
            <a:off x="11663666" y="6543576"/>
            <a:ext cx="528029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848644"/>
            <a:ext cx="1173450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MODEL ARCHITECTURE · 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2088356"/>
            <a:ext cx="11277318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38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 compact NumPy network separates normal from damaged roads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3301405"/>
            <a:ext cx="2763471" cy="1762423"/>
          </a:xfrm>
          <a:prstGeom prst="roundRect">
            <a:avLst>
              <a:gd name="adj" fmla="val 9079"/>
            </a:avLst>
          </a:prstGeom>
          <a:solidFill>
            <a:srgbClr val="030303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3530005"/>
            <a:ext cx="291586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LAYER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783" y="3868440"/>
            <a:ext cx="2306282" cy="537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600" spc="115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3,072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783" y="4589959"/>
            <a:ext cx="291586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features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25352" y="3301405"/>
            <a:ext cx="2763471" cy="1762423"/>
          </a:xfrm>
          <a:prstGeom prst="roundRect">
            <a:avLst>
              <a:gd name="adj" fmla="val 9079"/>
            </a:avLst>
          </a:prstGeom>
          <a:solidFill>
            <a:srgbClr val="030303"/>
          </a:solidFill>
          <a:ln/>
        </p:spPr>
      </p:sp>
      <p:sp>
        <p:nvSpPr>
          <p:cNvPr id="9" name="Text 7"/>
          <p:cNvSpPr/>
          <p:nvPr/>
        </p:nvSpPr>
        <p:spPr>
          <a:xfrm>
            <a:off x="3753947" y="3530005"/>
            <a:ext cx="291586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HIDDEN LAYER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53947" y="3868440"/>
            <a:ext cx="2306282" cy="537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600" spc="115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753947" y="4589959"/>
            <a:ext cx="291586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ReLU activation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93516" y="3301405"/>
            <a:ext cx="2763669" cy="1762423"/>
          </a:xfrm>
          <a:prstGeom prst="roundRect">
            <a:avLst>
              <a:gd name="adj" fmla="val 9079"/>
            </a:avLst>
          </a:prstGeom>
          <a:solidFill>
            <a:srgbClr val="030303"/>
          </a:solidFill>
          <a:ln/>
        </p:spPr>
      </p:sp>
      <p:sp>
        <p:nvSpPr>
          <p:cNvPr id="13" name="Text 11"/>
          <p:cNvSpPr/>
          <p:nvPr/>
        </p:nvSpPr>
        <p:spPr>
          <a:xfrm>
            <a:off x="6822111" y="3530005"/>
            <a:ext cx="2916065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LAYER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22111" y="3868440"/>
            <a:ext cx="2306481" cy="537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600" spc="115" kern="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822111" y="4589959"/>
            <a:ext cx="2916065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Sigmoid activation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61879" y="3301405"/>
            <a:ext cx="2072628" cy="1762423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7" name="Text 15"/>
          <p:cNvSpPr/>
          <p:nvPr/>
        </p:nvSpPr>
        <p:spPr>
          <a:xfrm>
            <a:off x="9890473" y="3639542"/>
            <a:ext cx="2225024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90473" y="3977977"/>
            <a:ext cx="1615439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00" spc="11" kern="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/ Damaged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457189" y="5292427"/>
            <a:ext cx="1173450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layer: 3,072 → Hidden layer: 32 + ReLU → Output layer: 1 + Sigmoid → Normal / Damaged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189" y="5766296"/>
            <a:ext cx="601964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hidden layer uses ReLU activation.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4442" y="5766296"/>
            <a:ext cx="5867253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output layer uses Sigmoid for the final prediction.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189" y="6176665"/>
            <a:ext cx="1173450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IS DEVELOPED USING NUMPY.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6323" y="5766296"/>
            <a:ext cx="19050" cy="245269"/>
          </a:xfrm>
          <a:prstGeom prst="rect">
            <a:avLst/>
          </a:prstGeom>
          <a:solidFill>
            <a:srgbClr val="4E4E4E"/>
          </a:solidFill>
          <a:ln/>
        </p:spPr>
      </p:sp>
      <p:sp>
        <p:nvSpPr>
          <p:cNvPr id="24" name="Text 22"/>
          <p:cNvSpPr/>
          <p:nvPr/>
        </p:nvSpPr>
        <p:spPr>
          <a:xfrm>
            <a:off x="11663666" y="6543576"/>
            <a:ext cx="528029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691878"/>
            <a:ext cx="1173450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APPLICATION HANDOFF · 08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931591"/>
            <a:ext cx="11277318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38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Flask handles prediction while React makes it usable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3144639"/>
            <a:ext cx="4622684" cy="2450207"/>
          </a:xfrm>
          <a:prstGeom prst="roundRect">
            <a:avLst>
              <a:gd name="adj" fmla="val 6531"/>
            </a:avLst>
          </a:prstGeom>
          <a:solidFill>
            <a:srgbClr val="030303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3373239"/>
            <a:ext cx="4775081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BACKEND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783" y="3612952"/>
            <a:ext cx="4165496" cy="401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100" spc="31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Flask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85783" y="4243090"/>
            <a:ext cx="4165397" cy="19050"/>
          </a:xfrm>
          <a:prstGeom prst="roundRect">
            <a:avLst>
              <a:gd name="adj" fmla="val 49999"/>
            </a:avLst>
          </a:prstGeom>
          <a:solidFill>
            <a:srgbClr val="4E4E4E"/>
          </a:solidFill>
          <a:ln/>
        </p:spPr>
      </p:sp>
      <p:sp>
        <p:nvSpPr>
          <p:cNvPr id="8" name="Text 6"/>
          <p:cNvSpPr/>
          <p:nvPr/>
        </p:nvSpPr>
        <p:spPr>
          <a:xfrm>
            <a:off x="685783" y="4414540"/>
            <a:ext cx="4165496" cy="951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spc="7" kern="0" dirty="0">
                <a:solidFill>
                  <a:srgbClr val="E7E7E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Image processing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spc="7" kern="0" dirty="0">
                <a:solidFill>
                  <a:srgbClr val="E7E7E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Prediction API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spc="7" kern="0" dirty="0">
                <a:solidFill>
                  <a:srgbClr val="E7E7E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 metrics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774" y="3998516"/>
            <a:ext cx="2032048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84566" y="4396184"/>
            <a:ext cx="1422464" cy="19050"/>
          </a:xfrm>
          <a:prstGeom prst="roundRect">
            <a:avLst>
              <a:gd name="adj" fmla="val 49999"/>
            </a:avLst>
          </a:prstGeom>
          <a:solidFill>
            <a:srgbClr val="FC8337"/>
          </a:solidFill>
          <a:ln/>
        </p:spPr>
      </p:sp>
      <p:sp>
        <p:nvSpPr>
          <p:cNvPr id="11" name="Text 9"/>
          <p:cNvSpPr/>
          <p:nvPr/>
        </p:nvSpPr>
        <p:spPr>
          <a:xfrm>
            <a:off x="5079774" y="4567634"/>
            <a:ext cx="203204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OUTPUT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11723" y="3144639"/>
            <a:ext cx="4622784" cy="2450207"/>
          </a:xfrm>
          <a:prstGeom prst="roundRect">
            <a:avLst>
              <a:gd name="adj" fmla="val 6531"/>
            </a:avLst>
          </a:prstGeom>
          <a:solidFill>
            <a:srgbClr val="030303"/>
          </a:solidFill>
          <a:ln/>
        </p:spPr>
      </p:sp>
      <p:sp>
        <p:nvSpPr>
          <p:cNvPr id="13" name="Text 11"/>
          <p:cNvSpPr/>
          <p:nvPr/>
        </p:nvSpPr>
        <p:spPr>
          <a:xfrm>
            <a:off x="7340317" y="3373239"/>
            <a:ext cx="477518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40317" y="3612952"/>
            <a:ext cx="4165595" cy="401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100" spc="31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React</a:t>
            </a:r>
            <a:endParaRPr lang="en-US" sz="3100" dirty="0"/>
          </a:p>
        </p:txBody>
      </p:sp>
      <p:sp>
        <p:nvSpPr>
          <p:cNvPr id="15" name="Shape 13"/>
          <p:cNvSpPr/>
          <p:nvPr/>
        </p:nvSpPr>
        <p:spPr>
          <a:xfrm>
            <a:off x="7340317" y="4243090"/>
            <a:ext cx="4165595" cy="19050"/>
          </a:xfrm>
          <a:prstGeom prst="roundRect">
            <a:avLst>
              <a:gd name="adj" fmla="val 49999"/>
            </a:avLst>
          </a:prstGeom>
          <a:solidFill>
            <a:srgbClr val="4E4E4E"/>
          </a:solidFill>
          <a:ln/>
        </p:spPr>
      </p:sp>
      <p:sp>
        <p:nvSpPr>
          <p:cNvPr id="16" name="Text 14"/>
          <p:cNvSpPr/>
          <p:nvPr/>
        </p:nvSpPr>
        <p:spPr>
          <a:xfrm>
            <a:off x="7340317" y="4414540"/>
            <a:ext cx="4165595" cy="951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spc="7" kern="0" dirty="0">
                <a:solidFill>
                  <a:srgbClr val="E7E7E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Image upload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spc="7" kern="0" dirty="0">
                <a:solidFill>
                  <a:srgbClr val="E7E7E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Webcam capture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spc="7" kern="0" dirty="0">
                <a:solidFill>
                  <a:srgbClr val="E7E7E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Prediction result and prediction history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189" y="5823446"/>
            <a:ext cx="6019649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ROLE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189" y="6104731"/>
            <a:ext cx="601964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Connects model output to a practical user workflow.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4442" y="5823446"/>
            <a:ext cx="586725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 PATH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24442" y="6104731"/>
            <a:ext cx="5867253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→ Flask prediction → React result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6323" y="5823446"/>
            <a:ext cx="19050" cy="526554"/>
          </a:xfrm>
          <a:prstGeom prst="rect">
            <a:avLst/>
          </a:prstGeom>
          <a:solidFill>
            <a:srgbClr val="4E4E4E"/>
          </a:solidFill>
          <a:ln/>
        </p:spPr>
      </p:sp>
      <p:sp>
        <p:nvSpPr>
          <p:cNvPr id="22" name="Text 20"/>
          <p:cNvSpPr/>
          <p:nvPr/>
        </p:nvSpPr>
        <p:spPr>
          <a:xfrm>
            <a:off x="11592826" y="6543576"/>
            <a:ext cx="598869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820789"/>
            <a:ext cx="1173450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26" kern="0" dirty="0">
                <a:solidFill>
                  <a:srgbClr val="929292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ROADGUARD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3060502"/>
            <a:ext cx="11277318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38" kern="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3736876"/>
            <a:ext cx="1173450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0" dirty="0">
                <a:solidFill>
                  <a:srgbClr val="92929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92826" y="6543576"/>
            <a:ext cx="598869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7" kern="0" dirty="0">
                <a:solidFill>
                  <a:srgbClr val="E7E7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2026-09-17T16:23:14Z</dcterms:created>
  <dcterms:modified xsi:type="dcterms:W3CDTF">2026-09-17T16:23:14Z</dcterms:modified>
</cp:coreProperties>
</file>